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21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9" y="1027289"/>
            <a:ext cx="8086725" cy="44704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5" y="5597879"/>
            <a:ext cx="6921151" cy="219456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4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1023225"/>
            <a:ext cx="8085582" cy="447446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5583033"/>
            <a:ext cx="6919722" cy="219456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3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2657856"/>
            <a:ext cx="3806190" cy="50231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2657856"/>
            <a:ext cx="3806190" cy="50231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3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709334"/>
            <a:ext cx="3806190" cy="964533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3648200"/>
            <a:ext cx="3806190" cy="4267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706624"/>
            <a:ext cx="3806190" cy="96316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3645408"/>
            <a:ext cx="3806190" cy="4267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6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4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723043"/>
            <a:ext cx="2537460" cy="256032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016000"/>
            <a:ext cx="4572000" cy="6096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3349085"/>
            <a:ext cx="2548890" cy="416931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7224891"/>
            <a:ext cx="8085582" cy="817711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7107936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7879647"/>
            <a:ext cx="6922008" cy="7112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97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8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4" y="927100"/>
            <a:ext cx="1971675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952502"/>
            <a:ext cx="5800725" cy="7200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7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20" y="666044"/>
            <a:ext cx="8079581" cy="221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2657858"/>
            <a:ext cx="8065294" cy="5021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8549929"/>
            <a:ext cx="30861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881E6E94-0903-4E98-B362-72C96CCC66A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8739596"/>
            <a:ext cx="37719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7772998"/>
            <a:ext cx="2194560" cy="18627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56F2FF69-9DEB-48E5-9B9B-8D5FC2C6C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9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rbzyqueen/novatech_sales_forecasting_proj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33D92F4-0317-AA16-4942-BA645AD4566A}"/>
              </a:ext>
            </a:extLst>
          </p:cNvPr>
          <p:cNvSpPr txBox="1">
            <a:spLocks/>
          </p:cNvSpPr>
          <p:nvPr/>
        </p:nvSpPr>
        <p:spPr>
          <a:xfrm>
            <a:off x="238507" y="287508"/>
            <a:ext cx="8079581" cy="14323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0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83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83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11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1200" dirty="0">
                <a:solidFill>
                  <a:schemeClr val="tx1"/>
                </a:solidFill>
                <a:latin typeface="Arial" panose="020B0604020202020204" pitchFamily="34" charset="0"/>
              </a:rPr>
              <a:t>📌 </a:t>
            </a:r>
            <a:r>
              <a:rPr lang="en-US" sz="12800" dirty="0" err="1">
                <a:latin typeface="Arial" panose="020B0604020202020204" pitchFamily="34" charset="0"/>
              </a:rPr>
              <a:t>NovaTech</a:t>
            </a:r>
            <a:r>
              <a:rPr lang="en-US" sz="12800" dirty="0">
                <a:latin typeface="Arial" panose="020B0604020202020204" pitchFamily="34" charset="0"/>
              </a:rPr>
              <a:t> Store Sales Forecasting Analysis</a:t>
            </a:r>
            <a:endParaRPr lang="en-US" altLang="en-US" sz="12800" dirty="0">
              <a:latin typeface="Arial" panose="020B0604020202020204" pitchFamily="34" charset="0"/>
            </a:endParaRPr>
          </a:p>
          <a:p>
            <a:br>
              <a:rPr lang="en-US" altLang="en-US" sz="12800" dirty="0">
                <a:latin typeface="Arial" panose="020B0604020202020204" pitchFamily="34" charset="0"/>
              </a:rPr>
            </a:br>
            <a:r>
              <a:rPr lang="en-US" altLang="en-US" sz="12800" dirty="0">
                <a:solidFill>
                  <a:schemeClr val="tx1"/>
                </a:solidFill>
                <a:latin typeface="Arial" panose="020B0604020202020204" pitchFamily="34" charset="0"/>
              </a:rPr>
              <a:t>👩🏽</a:t>
            </a:r>
            <a:r>
              <a:rPr lang="en-US" altLang="en-US" sz="12800" dirty="0">
                <a:latin typeface="Arial" panose="020B0604020202020204" pitchFamily="34" charset="0"/>
              </a:rPr>
              <a:t>By: Barbara Mangiri</a:t>
            </a:r>
          </a:p>
          <a:p>
            <a:br>
              <a:rPr lang="en-US" altLang="en-US" sz="8300" i="1" dirty="0">
                <a:latin typeface="Arial" panose="020B0604020202020204" pitchFamily="34" charset="0"/>
              </a:rPr>
            </a:br>
            <a:br>
              <a:rPr lang="en-US" altLang="en-US" sz="2800" i="1" dirty="0">
                <a:latin typeface="Arial" panose="020B0604020202020204" pitchFamily="34" charset="0"/>
              </a:rPr>
            </a:br>
            <a:br>
              <a:rPr lang="en-US" altLang="en-US" sz="2800" dirty="0">
                <a:latin typeface="Arial" panose="020B0604020202020204" pitchFamily="34" charset="0"/>
              </a:rPr>
            </a:br>
            <a:br>
              <a:rPr lang="en-US" altLang="en-US" sz="2700" i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5382E-689A-50A9-A8B6-66A5F72989AB}"/>
              </a:ext>
            </a:extLst>
          </p:cNvPr>
          <p:cNvSpPr txBox="1"/>
          <p:nvPr/>
        </p:nvSpPr>
        <p:spPr>
          <a:xfrm>
            <a:off x="238507" y="2698217"/>
            <a:ext cx="88217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👉 </a:t>
            </a:r>
            <a:r>
              <a:rPr lang="en-US" sz="2600" b="1" i="1" dirty="0">
                <a:solidFill>
                  <a:schemeClr val="bg1"/>
                </a:solidFill>
              </a:rPr>
              <a:t>Swipe through to explore more visuals comparing forecasting techniques used for the </a:t>
            </a:r>
            <a:r>
              <a:rPr lang="en-US" sz="2600" b="1" i="1" dirty="0" err="1">
                <a:solidFill>
                  <a:schemeClr val="bg1"/>
                </a:solidFill>
              </a:rPr>
              <a:t>NovaTech</a:t>
            </a:r>
            <a:r>
              <a:rPr lang="en-US" sz="2600" b="1" i="1" dirty="0">
                <a:solidFill>
                  <a:schemeClr val="bg1"/>
                </a:solidFill>
              </a:rPr>
              <a:t>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3A89E-9143-67EF-BDAB-3696C28CB061}"/>
              </a:ext>
            </a:extLst>
          </p:cNvPr>
          <p:cNvSpPr txBox="1"/>
          <p:nvPr/>
        </p:nvSpPr>
        <p:spPr>
          <a:xfrm>
            <a:off x="825912" y="1106037"/>
            <a:ext cx="8252459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sz="2800" b="1" dirty="0">
                <a:solidFill>
                  <a:schemeClr val="bg1"/>
                </a:solidFill>
              </a:rPr>
              <a:t>Here’s how I confirmed the best forecasting technique  for the sales at </a:t>
            </a:r>
            <a:r>
              <a:rPr lang="en-US" sz="2800" b="1" dirty="0" err="1">
                <a:solidFill>
                  <a:schemeClr val="bg1"/>
                </a:solidFill>
              </a:rPr>
              <a:t>NovaTech</a:t>
            </a:r>
            <a:r>
              <a:rPr lang="en-US" sz="2800" b="1" dirty="0">
                <a:solidFill>
                  <a:schemeClr val="bg1"/>
                </a:solidFill>
              </a:rPr>
              <a:t> Store</a:t>
            </a:r>
          </a:p>
          <a:p>
            <a:endParaRPr lang="en-US" sz="21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2AF4D-5EFE-A89F-C455-FE66316B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0786"/>
            <a:ext cx="9144000" cy="51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1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08A8-DA18-8C88-CBA6-85109ECE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A79EEE-FEC8-D28C-9467-4FA6C7148A80}"/>
              </a:ext>
            </a:extLst>
          </p:cNvPr>
          <p:cNvSpPr/>
          <p:nvPr/>
        </p:nvSpPr>
        <p:spPr>
          <a:xfrm>
            <a:off x="231648" y="1866899"/>
            <a:ext cx="8680704" cy="5956301"/>
          </a:xfrm>
          <a:prstGeom prst="roundRect">
            <a:avLst>
              <a:gd name="adj" fmla="val 10270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The Goal?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Find out which technique provides the most accurate prediction: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Naïve Approach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Moving Averages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Exponential Smoothing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SLR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Linear Forecast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3F55C64-4C72-6CCC-A4BE-7CE15C22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436372"/>
            <a:ext cx="9398000" cy="1022609"/>
          </a:xfrm>
        </p:spPr>
        <p:txBody>
          <a:bodyPr>
            <a:noAutofit/>
          </a:bodyPr>
          <a:lstStyle/>
          <a:p>
            <a:r>
              <a:rPr lang="en-US" sz="4400" b="1" u="sng" dirty="0">
                <a:solidFill>
                  <a:schemeClr val="accent1">
                    <a:lumMod val="75000"/>
                  </a:schemeClr>
                </a:solidFill>
              </a:rPr>
              <a:t>Business Problem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4400" i="1" dirty="0" err="1">
                <a:solidFill>
                  <a:schemeClr val="accent1">
                    <a:lumMod val="75000"/>
                  </a:schemeClr>
                </a:solidFill>
              </a:rPr>
              <a:t>NovaTech</a:t>
            </a:r>
            <a:r>
              <a:rPr lang="en-US" sz="4400" i="1" dirty="0">
                <a:solidFill>
                  <a:schemeClr val="accent1">
                    <a:lumMod val="75000"/>
                  </a:schemeClr>
                </a:solidFill>
              </a:rPr>
              <a:t> Store needs accurate Forecasts to manage demand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AE050-2486-6802-C580-F7F21799C806}"/>
              </a:ext>
            </a:extLst>
          </p:cNvPr>
          <p:cNvSpPr txBox="1">
            <a:spLocks/>
          </p:cNvSpPr>
          <p:nvPr/>
        </p:nvSpPr>
        <p:spPr>
          <a:xfrm>
            <a:off x="231648" y="1106074"/>
            <a:ext cx="9398000" cy="10226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40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F7C9-1C02-4840-3E73-0565ADAD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9" y="107245"/>
            <a:ext cx="8680704" cy="1772354"/>
          </a:xfrm>
        </p:spPr>
        <p:txBody>
          <a:bodyPr/>
          <a:lstStyle/>
          <a:p>
            <a:r>
              <a:rPr lang="en-US" b="1" dirty="0"/>
              <a:t>365 days of historical sales data</a:t>
            </a:r>
            <a:br>
              <a:rPr lang="en-US" b="1" dirty="0"/>
            </a:br>
            <a:r>
              <a:rPr lang="en-US" b="1" dirty="0"/>
              <a:t>Daily Lenovo product sales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56A637-39D0-B53C-1509-7393852D3B78}"/>
              </a:ext>
            </a:extLst>
          </p:cNvPr>
          <p:cNvSpPr/>
          <p:nvPr/>
        </p:nvSpPr>
        <p:spPr>
          <a:xfrm>
            <a:off x="231648" y="2070100"/>
            <a:ext cx="8680704" cy="2311399"/>
          </a:xfrm>
          <a:prstGeom prst="roundRect">
            <a:avLst>
              <a:gd name="adj" fmla="val 10826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Variables used: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Independent variable: </a:t>
            </a:r>
            <a:r>
              <a:rPr lang="en-US" sz="2800" b="1" dirty="0">
                <a:solidFill>
                  <a:schemeClr val="tx1"/>
                </a:solidFill>
              </a:rPr>
              <a:t>Date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Dependent variable: </a:t>
            </a:r>
            <a:r>
              <a:rPr lang="en-US" sz="2800" b="1" dirty="0">
                <a:solidFill>
                  <a:schemeClr val="tx1"/>
                </a:solidFill>
              </a:rPr>
              <a:t>Daily Sales</a:t>
            </a:r>
            <a:endParaRPr lang="en-US" sz="2800" b="1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71787B-ADE1-18D4-C972-0A8302F2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" y="4572000"/>
            <a:ext cx="8680704" cy="446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8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0999-403A-3E93-890A-E0215A94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25606"/>
            <a:ext cx="8079581" cy="1238956"/>
          </a:xfrm>
        </p:spPr>
        <p:txBody>
          <a:bodyPr/>
          <a:lstStyle/>
          <a:p>
            <a:r>
              <a:rPr lang="en-US" b="1" dirty="0"/>
              <a:t>Forecasting Methods Tested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AC63F7-B585-FF4B-23A2-B40F57197210}"/>
              </a:ext>
            </a:extLst>
          </p:cNvPr>
          <p:cNvSpPr/>
          <p:nvPr/>
        </p:nvSpPr>
        <p:spPr>
          <a:xfrm>
            <a:off x="231648" y="1777999"/>
            <a:ext cx="8680704" cy="5588001"/>
          </a:xfrm>
          <a:prstGeom prst="roundRect">
            <a:avLst>
              <a:gd name="adj" fmla="val 10270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Forecasting methods used for comparisons: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Naïve Forecast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3-day Moving Average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7-day Moving Average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Exponential Smoothing (damping = 0.8)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Simple Linear Regression (SLR)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Linear Forecast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🔹 SLR + Seasonality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60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D955-42DF-57ED-30FE-C73921A1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6" y="-174304"/>
            <a:ext cx="8079581" cy="987104"/>
          </a:xfrm>
        </p:spPr>
        <p:txBody>
          <a:bodyPr/>
          <a:lstStyle/>
          <a:p>
            <a:r>
              <a:rPr lang="en-US" b="1" dirty="0"/>
              <a:t>Forecast Comparisons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0F028-17B9-9EF7-B7C9-B119175A9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6" y="5340992"/>
            <a:ext cx="8709888" cy="370140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579779-0464-7EB8-68DB-1943CA336017}"/>
              </a:ext>
            </a:extLst>
          </p:cNvPr>
          <p:cNvSpPr/>
          <p:nvPr/>
        </p:nvSpPr>
        <p:spPr>
          <a:xfrm>
            <a:off x="217056" y="685800"/>
            <a:ext cx="8709888" cy="4521200"/>
          </a:xfrm>
          <a:prstGeom prst="roundRect">
            <a:avLst>
              <a:gd name="adj" fmla="val 10270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Which forecast method is best for this business?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The sales show minimal long-term trend but clear  seasonal patterns.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Models that incorporate seasonality produce the most accurate forecasts.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🔹SLR × Seasonality wins here because it has the lower </a:t>
            </a:r>
            <a:r>
              <a:rPr lang="en-US" sz="2800" b="1" dirty="0">
                <a:solidFill>
                  <a:schemeClr val="tx1"/>
                </a:solidFill>
              </a:rPr>
              <a:t>Mean Squared Error (MSE)</a:t>
            </a:r>
            <a:r>
              <a:rPr lang="en-US" sz="2800" dirty="0">
                <a:solidFill>
                  <a:schemeClr val="tx1"/>
                </a:solidFill>
              </a:rPr>
              <a:t> value.</a:t>
            </a: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52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5069-96F5-0CF2-7667-586FB670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6" y="122799"/>
            <a:ext cx="8079581" cy="984956"/>
          </a:xfrm>
        </p:spPr>
        <p:txBody>
          <a:bodyPr/>
          <a:lstStyle/>
          <a:p>
            <a:r>
              <a:rPr lang="en-US" b="1" dirty="0"/>
              <a:t>Recommendation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4316A0-9B61-5F3B-341D-54042EACCE2B}"/>
              </a:ext>
            </a:extLst>
          </p:cNvPr>
          <p:cNvSpPr/>
          <p:nvPr/>
        </p:nvSpPr>
        <p:spPr>
          <a:xfrm>
            <a:off x="217056" y="1107755"/>
            <a:ext cx="8709888" cy="4000499"/>
          </a:xfrm>
          <a:prstGeom prst="roundRect">
            <a:avLst>
              <a:gd name="adj" fmla="val 10270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600" b="1" dirty="0">
                <a:solidFill>
                  <a:schemeClr val="tx1"/>
                </a:solidFill>
              </a:rPr>
              <a:t>Recommended model: SLR × Seasonality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Lowest forecasting error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Captures seasonal behavior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More reliable for daily sales forecasting</a:t>
            </a:r>
            <a:endParaRPr lang="en-US" sz="2800" b="1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7C18-5137-62D5-1DA1-6F11E9902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6" y="5290192"/>
            <a:ext cx="8709888" cy="37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5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C924-A938-A2FB-8104-49071F57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9" y="118363"/>
            <a:ext cx="8079581" cy="1037338"/>
          </a:xfrm>
        </p:spPr>
        <p:txBody>
          <a:bodyPr>
            <a:normAutofit/>
          </a:bodyPr>
          <a:lstStyle/>
          <a:p>
            <a:r>
              <a:rPr lang="en-US" sz="5400" b="1" dirty="0"/>
              <a:t>Project Repository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89278E-672C-5FE2-4FED-DAB968811DE0}"/>
              </a:ext>
            </a:extLst>
          </p:cNvPr>
          <p:cNvSpPr/>
          <p:nvPr/>
        </p:nvSpPr>
        <p:spPr>
          <a:xfrm>
            <a:off x="175419" y="1186357"/>
            <a:ext cx="8558644" cy="5747844"/>
          </a:xfrm>
          <a:prstGeom prst="roundRect">
            <a:avLst>
              <a:gd name="adj" fmla="val 10270"/>
            </a:avLst>
          </a:prstGeom>
          <a:solidFill>
            <a:srgbClr val="D9EAF7">
              <a:alpha val="92000"/>
            </a:srgbClr>
          </a:solidFill>
          <a:ln>
            <a:solidFill>
              <a:srgbClr val="C9D9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Access project on GitHub:</a:t>
            </a:r>
          </a:p>
          <a:p>
            <a:r>
              <a:rPr lang="en-US" sz="3200" b="1" u="sng" dirty="0">
                <a:solidFill>
                  <a:schemeClr val="tx1"/>
                </a:solidFill>
                <a:hlinkClick r:id="rId2"/>
              </a:rPr>
              <a:t>https://github.com/barbzyqueen/novatech_sales_forecasting_project.git</a:t>
            </a:r>
            <a:endParaRPr lang="en-US" sz="3200" b="1" u="sng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Files/details included: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Excel forecasting workbook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 PowerPoint presentation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🔹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Project documentation</a:t>
            </a:r>
          </a:p>
          <a:p>
            <a:pPr>
              <a:lnSpc>
                <a:spcPct val="150000"/>
              </a:lnSpc>
            </a:pPr>
            <a:endParaRPr lang="en-US" sz="2800" b="1" i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AB964-2201-2FAA-B9A0-7AEDB587EB04}"/>
              </a:ext>
            </a:extLst>
          </p:cNvPr>
          <p:cNvSpPr txBox="1"/>
          <p:nvPr/>
        </p:nvSpPr>
        <p:spPr>
          <a:xfrm>
            <a:off x="444500" y="7311313"/>
            <a:ext cx="751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spc="-120" dirty="0">
                <a:latin typeface="+mj-lt"/>
                <a:ea typeface="+mj-ea"/>
                <a:cs typeface="+mj-cs"/>
              </a:rPr>
              <a:t>Thank you for reading and  following along!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2466334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0</TotalTime>
  <Words>280</Words>
  <Application>Microsoft Office PowerPoint</Application>
  <PresentationFormat>Custom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 Light</vt:lpstr>
      <vt:lpstr>Metropolitan</vt:lpstr>
      <vt:lpstr>PowerPoint Presentation</vt:lpstr>
      <vt:lpstr>Business Problem: NovaTech Store needs accurate Forecasts to manage demand</vt:lpstr>
      <vt:lpstr>365 days of historical sales data Daily Lenovo product sales</vt:lpstr>
      <vt:lpstr>Forecasting Methods Tested</vt:lpstr>
      <vt:lpstr>Forecast Comparisons</vt:lpstr>
      <vt:lpstr>Recommendation</vt:lpstr>
      <vt:lpstr>Project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Mangiri</dc:creator>
  <cp:lastModifiedBy>Barbara Mangiri</cp:lastModifiedBy>
  <cp:revision>11</cp:revision>
  <dcterms:created xsi:type="dcterms:W3CDTF">2026-03-04T03:32:04Z</dcterms:created>
  <dcterms:modified xsi:type="dcterms:W3CDTF">2026-03-04T06:58:48Z</dcterms:modified>
</cp:coreProperties>
</file>